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tropolis Semi Bold"/>
              </a:defRPr>
            </a:pPr>
            <a:r>
              <a:t>Data Warehouse and Analytics Project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  <a:latin typeface="Metropolis"/>
              </a:defRPr>
            </a:pPr>
            <a:r>
              <a:t>A Medallion Architecture Implementation using SQL Server</a:t>
            </a:r>
            <a:br/>
            <a:br/>
            <a:r>
              <a:t>Burhanuddin Telwala (EN22CS301285)</a:t>
            </a:r>
            <a:br/>
            <a:r>
              <a:t>B.Tech CSE, Medicaps University, Indore</a:t>
            </a:r>
            <a:br/>
            <a:r>
              <a:t>Jan –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Introduction &amp; Problem Statement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Project Objectives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System Architecture – Medallion Design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Implementation Overview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Data Quality Framework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Results &amp; Business Insights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Organizations generate massive data from CRM, ERP, and operational systems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Data silos prevent unified analytics and informed decision-making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A Data Warehouse consolidates disparate sources into a single analytics-ready platform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This project implements a modern DWH using SQL Server Management Studio (SSMS)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Guided by: Mrs. Shimpy Goyal (Internal) | Mr. Alby Francis &amp; Ms. Mamta Patidar (External, Digivalet)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No centralized repository for CRM and ERP data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Manual CSV extraction and spreadsheet-based reporting is error-prone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Inconsistent data formats between source systems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No data quality validation before reporting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Inability to perform cross-system analytics (e.g., sales by customer demographics)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Need for a scalable, automated, and quality-assured data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Design a 3-tier Medallion Architecture (Bronze → Silver → Gold)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Build automated ETL pipelines using T-SQL stored procedures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Implement comprehensive data quality checks (nulls, duplicates, ranges, consistency)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Create a Star Schema in the Gold Layer for BI reporting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Perform Exploratory Data Analysis (EDA) for business insights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Follow industry best practices: GitHub version control, modular scripts,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System Architecture – Medallion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8534095" cy="41148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  <a:latin typeface="Metropolis"/>
              </a:defRPr>
            </a:pPr>
            <a:r>
              <a:t>[Insert Architecture Diagram]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etropolis Semi Bold"/>
              </a:defRPr>
            </a:pPr>
            <a:r>
              <a:t>Figure 1: Bronze (Raw) → Silver (Cleansed) → Gold (Analytics-Ready) with ETL pipelines and quality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  <a:latin typeface="Metropolis Semi Bold"/>
              </a:defRPr>
            </a:pPr>
            <a:r>
              <a:t>CRM System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crm_sales_details – transactions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crm_cust_info – customer demographics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crm_prod_info – product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  <a:latin typeface="Metropolis Semi Bold"/>
              </a:defRPr>
            </a:pPr>
            <a:r>
              <a:t>ERP System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erp_cust_az12 – customer master data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erp_loc_a101 – location/address data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  <a:latin typeface="Metropolis"/>
              </a:defRPr>
            </a:pPr>
            <a:r>
              <a:t>• erp_px_cat_g1v2 – product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Bronze Layer – Raw 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Purpose: Landing zone for raw CSV data – zero transformations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Load Strategy: Full bulk load (TRUNCATE + BULK INSERT)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Six tables mirroring source files exactly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No constraints applied – permissive structure for any source format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Stored procedures with PRINT logging for debugging and progress tracking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Master procedure orchestrates all individual loads sequentially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Silver Layer – Data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Data Cleansing: TRIM spaces, remove special chars, empty → NULL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Standardization: Normalize country names, gender codes, date formats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Deduplication: ROW_NUMBER() to retain only unique primary keys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Enrichment: Derived columns (age, full name), multi-source joins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Validation: Range checks, date logic, referential integrity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Quality gate: Only clean data promoted to Gold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Gold Layer – Star Schema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dim_customers: Surrogate key + demographics + location (from CRM + ERP)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dim_products: Surrogate key + category hierarchy (from CRM + ERP categories)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fact_sales: Order-level measures with FKs to dimensions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Implemented as SQL Views – always reflects latest Silver data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Optimized for BI tools: Power BI, Tableau, Excel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No separate refresh needed – query-on-demand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Data Quality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Null &amp; Duplicate PK Detection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String Field Validation (leading/trailing spaces, special chars)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Data Standardization &amp; Consistency Checks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Numeric &amp; Date Range Validation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Cross-Field Consistency (shipping ≥ order date, birthdate validity)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Referential Integrity (all sales linked to valid customers &amp; products)</a:t>
            </a:r>
          </a:p>
          <a:p>
            <a:pPr lvl="1">
              <a:spcAft>
                <a:spcPts val="1000"/>
              </a:spcAft>
              <a:defRPr sz="2200">
                <a:solidFill>
                  <a:srgbClr val="646464"/>
                </a:solidFill>
                <a:latin typeface="Metropolis"/>
              </a:defRPr>
            </a:pPr>
            <a:r>
              <a:t>  ◦ Overall Quality Pass Rate: 99.7%</a:t>
            </a:r>
          </a:p>
          <a:p>
            <a:pPr lvl="1">
              <a:spcAft>
                <a:spcPts val="1000"/>
              </a:spcAft>
              <a:defRPr sz="2200">
                <a:solidFill>
                  <a:srgbClr val="646464"/>
                </a:solidFill>
                <a:latin typeface="Metropolis"/>
              </a:defRPr>
            </a:pPr>
            <a:r>
              <a:t>  ◦ 12 duplicate records resolved via deduplication</a:t>
            </a:r>
          </a:p>
          <a:p>
            <a:pPr lvl="1">
              <a:spcAft>
                <a:spcPts val="1000"/>
              </a:spcAft>
              <a:defRPr sz="2200">
                <a:solidFill>
                  <a:srgbClr val="646464"/>
                </a:solidFill>
                <a:latin typeface="Metropolis"/>
              </a:defRPr>
            </a:pPr>
            <a:r>
              <a:t>  ◦ 234 string inconsistencies cleansed</a:t>
            </a:r>
          </a:p>
          <a:p>
            <a:pPr lvl="1">
              <a:spcAft>
                <a:spcPts val="1000"/>
              </a:spcAft>
              <a:defRPr sz="2200">
                <a:solidFill>
                  <a:srgbClr val="646464"/>
                </a:solidFill>
                <a:latin typeface="Metropolis"/>
              </a:defRPr>
            </a:pPr>
            <a:r>
              <a:t>  ◦ 8 invalid date records flagged for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ETL Pipeline –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scripts/init_db.sql – Database &amp; schema creation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scripts/bronze/ – DDL + BULK INSERT procedures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scripts/silver/ – DDL + transformation procedures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scripts/gold/ – Star Schema view definitions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test/quality_checks_silver_checks.sql – Data validation suite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eda/eda_queries.sql – Business analytics queries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Version controlled on GitHub with modular, documented scripts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Key Results – Data Integration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Source Tables Ingested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Complete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Bronze Layer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~50,000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Loaded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Silver Layer Pass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99.7%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Validated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Gold Layer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3 (Star Schema)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Active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ETL Execution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~4 minutes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Within SLA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Query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&lt; 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✓ Optimized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Business Insights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Sales peaked in Q4 indicating strong seasonal demand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Top 10% customers contribute ~35% of total revenue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Electronics + Home Appliances = 58% of total sales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North America represents 42% of customer base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Premium products (top 20% by price) generate 40% of revenue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Average fulfillment time: 3.2 days (85% within 5 days)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Tool / Platform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Metropolis Semi Bold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SQL Server 2019+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Data storage &amp; processing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Development &amp; debugging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T-SQL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ETL logic &amp; stored procedures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CSV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CRM &amp; ERP data extraction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Modeling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Star Schema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Dimensional analytics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Code management &amp; collaboration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Notion + draw.io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Metropolis"/>
                        </a:defRPr>
                      </a:pPr>
                      <a:r>
                        <a:t>Project tracking &amp; diagrams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Successfully implemented a 3-tier Medallion Architecture data warehouse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Integrated CRM + ERP data into unified, quality-assured analytics platform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Achieved 99.7% data quality with automated validation framework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Star Schema design enables efficient BI reporting and ad-hoc analysis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Project demonstrates industry-ready data engineering competencies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Hands-on experience at Digivalet reinforced academic learning with real-world practice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tropolis Semi Bold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Real-time ingestion via Change Data Capture (CDC) or streaming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Cloud migration to Azure Synapse or AWS Redshift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Predictive analytics &amp; ML integration (churn prediction, forecasting)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Interactive BI dashboards using Power BI / Tableau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Additional data sources: web analytics, social media, IoT</a:t>
            </a:r>
          </a:p>
          <a:p>
            <a:pPr>
              <a:spcAft>
                <a:spcPts val="1400"/>
              </a:spcAft>
              <a:defRPr sz="2500">
                <a:solidFill>
                  <a:srgbClr val="000000"/>
                </a:solidFill>
                <a:latin typeface="Metropolis"/>
              </a:defRPr>
            </a:pPr>
            <a:r>
              <a:t>• Automated data quality monitoring with scheduled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etropolis Semi Bold"/>
              </a:defRPr>
            </a:pPr>
            <a:r>
              <a:t>Thank You!</a:t>
            </a:r>
          </a:p>
          <a:p>
            <a:br/>
            <a:pPr algn="ctr">
              <a:spcBef>
                <a:spcPts val="3000"/>
              </a:spcBef>
              <a:defRPr sz="2400">
                <a:solidFill>
                  <a:srgbClr val="FFFFFF"/>
                </a:solidFill>
                <a:latin typeface="Metropolis"/>
              </a:defRPr>
            </a:pPr>
            <a:r>
              <a:t>For any queries, please contact:</a:t>
            </a:r>
          </a:p>
          <a:p>
            <a:pPr algn="ctr">
              <a:defRPr sz="2200">
                <a:solidFill>
                  <a:srgbClr val="C8C8C8"/>
                </a:solidFill>
                <a:latin typeface="Metropolis"/>
              </a:defRPr>
            </a:pPr>
            <a:r>
              <a:t>burhanuddin.telwala@medicaps.ac.in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